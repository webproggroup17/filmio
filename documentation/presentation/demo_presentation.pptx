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 name="Shape 24"/>
          <p:cNvSpPr/>
          <p:nvPr>
            <p:ph type="sldImg"/>
          </p:nvPr>
        </p:nvSpPr>
        <p:spPr>
          <a:prstGeom prst="rect">
            <a:avLst/>
          </a:prstGeom>
        </p:spPr>
        <p:txBody>
          <a:bodyPr/>
          <a:lstStyle/>
          <a:p>
            <a:pPr/>
          </a:p>
        </p:txBody>
      </p:sp>
      <p:sp>
        <p:nvSpPr>
          <p:cNvPr id="25" name="Shape 25"/>
          <p:cNvSpPr/>
          <p:nvPr>
            <p:ph type="body" sz="quarter" idx="1"/>
          </p:nvPr>
        </p:nvSpPr>
        <p:spPr>
          <a:prstGeom prst="rect">
            <a:avLst/>
          </a:prstGeom>
        </p:spPr>
        <p:txBody>
          <a:bodyPr/>
          <a:lstStyle/>
          <a:p>
            <a:pPr/>
          </a:p>
          <a:p>
            <a:pPr/>
            <a:r>
              <a:t>Tiina: Good evening, ladies and gentlemen. My name is Tiina, and together with Mariia, Juan and Joni I am here to present our web programming project. It is called Filmio. Filmio is a movie website. You can search for films and see information about them, write reviews, save your favourites and share them, create and join groups, and chat with other group members.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Shape 46"/>
          <p:cNvSpPr/>
          <p:nvPr>
            <p:ph type="sldImg"/>
          </p:nvPr>
        </p:nvSpPr>
        <p:spPr>
          <a:prstGeom prst="rect">
            <a:avLst/>
          </a:prstGeom>
        </p:spPr>
        <p:txBody>
          <a:bodyPr/>
          <a:lstStyle/>
          <a:p>
            <a:pPr/>
          </a:p>
        </p:txBody>
      </p:sp>
      <p:sp>
        <p:nvSpPr>
          <p:cNvPr id="47" name="Shape 47"/>
          <p:cNvSpPr/>
          <p:nvPr>
            <p:ph type="body" sz="quarter" idx="1"/>
          </p:nvPr>
        </p:nvSpPr>
        <p:spPr>
          <a:prstGeom prst="rect">
            <a:avLst/>
          </a:prstGeom>
        </p:spPr>
        <p:txBody>
          <a:bodyPr/>
          <a:lstStyle/>
          <a:p>
            <a:pPr/>
            <a:r>
              <a:t>Tiina: Let's start with our team. Everyone contributed to all features, but we each focused on different areas. I spent most of my time on styling, responsive design, and the favourites feature. Now I'll hand over to Juan. </a:t>
            </a:r>
          </a:p>
          <a:p>
            <a:pPr/>
          </a:p>
          <a:p>
            <a:pPr/>
            <a:r>
              <a:t>Juan: Thank you. I am Juan. I spent most of my time on the chat, the user accounts and the reviews. Next is Joni. </a:t>
            </a:r>
          </a:p>
          <a:p>
            <a:pPr/>
          </a:p>
          <a:p>
            <a:pPr/>
            <a:r>
              <a:t>Joni: I am Joni. I spent most of my time on movie search and the page with the list of groups. Mariia will continue. </a:t>
            </a:r>
          </a:p>
          <a:p>
            <a:pPr/>
          </a:p>
          <a:p>
            <a:pPr/>
            <a:r>
              <a:t>Mariia: And I am Mariia. I spent most of my time on the main page, the page of one group and the page of one movie.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 name="Shape 60"/>
          <p:cNvSpPr/>
          <p:nvPr>
            <p:ph type="sldImg"/>
          </p:nvPr>
        </p:nvSpPr>
        <p:spPr>
          <a:prstGeom prst="rect">
            <a:avLst/>
          </a:prstGeom>
        </p:spPr>
        <p:txBody>
          <a:bodyPr/>
          <a:lstStyle/>
          <a:p>
            <a:pPr/>
          </a:p>
        </p:txBody>
      </p:sp>
      <p:sp>
        <p:nvSpPr>
          <p:cNvPr id="61" name="Shape 61"/>
          <p:cNvSpPr/>
          <p:nvPr>
            <p:ph type="body" sz="quarter" idx="1"/>
          </p:nvPr>
        </p:nvSpPr>
        <p:spPr>
          <a:prstGeom prst="rect">
            <a:avLst/>
          </a:prstGeom>
        </p:spPr>
        <p:txBody>
          <a:bodyPr/>
          <a:lstStyle/>
          <a:p>
            <a:pPr/>
            <a:r>
              <a:t>Tiina: Now let's look at the key features.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Shape 66"/>
          <p:cNvSpPr/>
          <p:nvPr>
            <p:ph type="sldImg"/>
          </p:nvPr>
        </p:nvSpPr>
        <p:spPr>
          <a:prstGeom prst="rect">
            <a:avLst/>
          </a:prstGeom>
        </p:spPr>
        <p:txBody>
          <a:bodyPr/>
          <a:lstStyle/>
          <a:p>
            <a:pPr/>
          </a:p>
        </p:txBody>
      </p:sp>
      <p:sp>
        <p:nvSpPr>
          <p:cNvPr id="67" name="Shape 67"/>
          <p:cNvSpPr/>
          <p:nvPr>
            <p:ph type="body" sz="quarter" idx="1"/>
          </p:nvPr>
        </p:nvSpPr>
        <p:spPr>
          <a:prstGeom prst="rect">
            <a:avLst/>
          </a:prstGeom>
        </p:spPr>
        <p:txBody>
          <a:bodyPr/>
          <a:lstStyle/>
          <a:p>
            <a:pPr/>
            <a:r>
              <a:t>Tiina:  </a:t>
            </a:r>
          </a:p>
          <a:p>
            <a:pPr/>
          </a:p>
          <a:p>
            <a:pPr/>
            <a:r>
              <a:t>Here you can see all the required features and our implementations. We completed all the requirements, and everything works. The database diagram, User Interface designs, timesheet, and API(ay-pee-eye) documentation are available in our Git repository. Now Mariia will talk about our challenges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Shape 81"/>
          <p:cNvSpPr/>
          <p:nvPr>
            <p:ph type="sldImg"/>
          </p:nvPr>
        </p:nvSpPr>
        <p:spPr>
          <a:prstGeom prst="rect">
            <a:avLst/>
          </a:prstGeom>
        </p:spPr>
        <p:txBody>
          <a:bodyPr/>
          <a:lstStyle/>
          <a:p>
            <a:pPr/>
          </a:p>
        </p:txBody>
      </p:sp>
      <p:sp>
        <p:nvSpPr>
          <p:cNvPr id="82" name="Shape 82"/>
          <p:cNvSpPr/>
          <p:nvPr>
            <p:ph type="body" sz="quarter" idx="1"/>
          </p:nvPr>
        </p:nvSpPr>
        <p:spPr>
          <a:prstGeom prst="rect">
            <a:avLst/>
          </a:prstGeom>
        </p:spPr>
        <p:txBody>
          <a:bodyPr/>
          <a:lstStyle/>
          <a:p>
            <a:pPr/>
            <a:r>
              <a:t>Mariia: We are all beginners in web development, so we faced and overcame several challenges. Our biggest technical challenge was the My Account page, which became blank when the token expired, preventing users from logging in or out. We fixed the issue, and now the page works correctly. Now Juan will talk about our teamwork challenges. </a:t>
            </a:r>
          </a:p>
          <a:p>
            <a:pPr/>
          </a:p>
          <a:p>
            <a:pPr/>
            <a:r>
              <a:t>Juan: Our biggest teamwork challenge was working on the same codebase. We often faced merge conflicts that took time to resolve. Once, duplicated code even caused every chat message to appear twice! Now Joni will explain what we learned.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Joni: So, what did we learn? Since we are all beginners, almost everything was new to us. We learned how to build a web application using React, Node.js (node jay-as -&gt;EI DOT!), and a Post-gres-Q-L database, as well as how to write basic tests. Now Mariia will continue. </a:t>
            </a:r>
          </a:p>
          <a:p>
            <a:pPr/>
          </a:p>
          <a:p>
            <a:pPr/>
            <a:r>
              <a:t>Mariia: We also learned to use Socket.IO for our chat, work with cookies and CORS, handle database transactions, validate passwords using regular expressions, and understand common security vulnerabilities. We also learned how to run the application in Docker. Now each of us will share a short personal reflection.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120"/>
          <p:cNvSpPr/>
          <p:nvPr>
            <p:ph type="sldImg"/>
          </p:nvPr>
        </p:nvSpPr>
        <p:spPr>
          <a:prstGeom prst="rect">
            <a:avLst/>
          </a:prstGeom>
        </p:spPr>
        <p:txBody>
          <a:bodyPr/>
          <a:lstStyle/>
          <a:p>
            <a:pPr/>
          </a:p>
        </p:txBody>
      </p:sp>
      <p:sp>
        <p:nvSpPr>
          <p:cNvPr id="121" name="Shape 121"/>
          <p:cNvSpPr/>
          <p:nvPr>
            <p:ph type="body" sz="quarter" idx="1"/>
          </p:nvPr>
        </p:nvSpPr>
        <p:spPr>
          <a:prstGeom prst="rect">
            <a:avLst/>
          </a:prstGeom>
        </p:spPr>
        <p:txBody>
          <a:bodyPr/>
          <a:lstStyle/>
          <a:p>
            <a:pPr/>
            <a:r>
              <a:t>Tiina: My biggest challenge was learning react. I learned how to review my teammates’ code. In future projects I would Improve my time management. </a:t>
            </a:r>
          </a:p>
          <a:p>
            <a:pPr/>
          </a:p>
          <a:p>
            <a:pPr/>
            <a:r>
              <a:t>Joni: I found task estimation challenging. I became more confident in styling web pages and making them responsive. Next time I would manage my time more effectively </a:t>
            </a:r>
          </a:p>
          <a:p>
            <a:pPr/>
          </a:p>
          <a:p>
            <a:pPr/>
            <a:r>
              <a:t>Mariia: What I struggled with most was  writing tests. I learned more about syntax. In the future, I would break larger tasks into smaller. </a:t>
            </a:r>
          </a:p>
          <a:p>
            <a:pPr/>
          </a:p>
          <a:p>
            <a:pPr/>
            <a:r>
              <a:t>Juan: One thing I had difficulty with was resolving git conflicts. I developed my skills in resolving them. Next time I would keep codebase better organized.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hape 134"/>
          <p:cNvSpPr/>
          <p:nvPr>
            <p:ph type="sldImg"/>
          </p:nvPr>
        </p:nvSpPr>
        <p:spPr>
          <a:prstGeom prst="rect">
            <a:avLst/>
          </a:prstGeom>
        </p:spPr>
        <p:txBody>
          <a:bodyPr/>
          <a:lstStyle/>
          <a:p>
            <a:pPr/>
          </a:p>
        </p:txBody>
      </p:sp>
      <p:sp>
        <p:nvSpPr>
          <p:cNvPr id="135" name="Shape 135"/>
          <p:cNvSpPr/>
          <p:nvPr>
            <p:ph type="body" sz="quarter" idx="1"/>
          </p:nvPr>
        </p:nvSpPr>
        <p:spPr>
          <a:prstGeom prst="rect">
            <a:avLst/>
          </a:prstGeom>
        </p:spPr>
        <p:txBody>
          <a:bodyPr/>
          <a:lstStyle/>
          <a:p>
            <a:pPr/>
            <a:r>
              <a:t>Juan: To sum up, Filmio is a fully working movie website application. We are proud that we have completed all the requirements and built a secure application. </a:t>
            </a:r>
          </a:p>
          <a:p>
            <a:pPr/>
          </a:p>
          <a:p>
            <a:pPr/>
            <a:r>
              <a:t>We are also happy to have worked together for the second project in a row. We worked smoothly as a team, had a friendly and supportive environment, and everyone was responsible for their part of the project. In future projects, we aim to break down tasks into smaller, more manageable steps. Thank you for your time, and we hope you enjoyed our presentation. </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4A148C"/>
        </a:solidFill>
      </p:bgPr>
    </p:bg>
    <p:spTree>
      <p:nvGrpSpPr>
        <p:cNvPr id="1" name=""/>
        <p:cNvGrpSpPr/>
        <p:nvPr/>
      </p:nvGrpSpPr>
      <p:grpSpPr>
        <a:xfrm>
          <a:off x="0" y="0"/>
          <a:ext cx="0" cy="0"/>
          <a:chOff x="0" y="0"/>
          <a:chExt cx="0" cy="0"/>
        </a:xfrm>
      </p:grpSpPr>
      <p:pic>
        <p:nvPicPr>
          <p:cNvPr id="20" name="backgroundSearch.png" descr="backgroundSearch.png"/>
          <p:cNvPicPr>
            <a:picLocks noChangeAspect="1"/>
          </p:cNvPicPr>
          <p:nvPr/>
        </p:nvPicPr>
        <p:blipFill>
          <a:blip r:embed="rId3">
            <a:extLst/>
          </a:blip>
          <a:stretch>
            <a:fillRect/>
          </a:stretch>
        </p:blipFill>
        <p:spPr>
          <a:xfrm>
            <a:off x="-35719" y="-26790"/>
            <a:ext cx="9215438" cy="6143626"/>
          </a:xfrm>
          <a:prstGeom prst="rect">
            <a:avLst/>
          </a:prstGeom>
          <a:ln w="12700">
            <a:miter lim="400000"/>
          </a:ln>
        </p:spPr>
      </p:pic>
      <p:sp>
        <p:nvSpPr>
          <p:cNvPr id="21" name="Text 0"/>
          <p:cNvSpPr txBox="1"/>
          <p:nvPr/>
        </p:nvSpPr>
        <p:spPr>
          <a:xfrm>
            <a:off x="640079" y="1757485"/>
            <a:ext cx="7863842" cy="6995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400">
                <a:solidFill>
                  <a:srgbClr val="431884"/>
                </a:solidFill>
              </a:defRPr>
            </a:lvl1pPr>
          </a:lstStyle>
          <a:p>
            <a:pPr/>
            <a:r>
              <a:t>Filmio</a:t>
            </a:r>
          </a:p>
        </p:txBody>
      </p:sp>
      <p:sp>
        <p:nvSpPr>
          <p:cNvPr id="22" name="Text 1"/>
          <p:cNvSpPr txBox="1"/>
          <p:nvPr/>
        </p:nvSpPr>
        <p:spPr>
          <a:xfrm>
            <a:off x="640079" y="2398638"/>
            <a:ext cx="7863842"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600">
                <a:solidFill>
                  <a:srgbClr val="763DC0"/>
                </a:solidFill>
              </a:defRPr>
            </a:lvl1pPr>
          </a:lstStyle>
          <a:p>
            <a:pPr/>
            <a:r>
              <a:t>Movie web app</a:t>
            </a:r>
          </a:p>
        </p:txBody>
      </p:sp>
      <p:sp>
        <p:nvSpPr>
          <p:cNvPr id="23" name="Text 2"/>
          <p:cNvSpPr txBox="1"/>
          <p:nvPr/>
        </p:nvSpPr>
        <p:spPr>
          <a:xfrm>
            <a:off x="640079" y="4156167"/>
            <a:ext cx="7863842"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8A79AA"/>
                </a:solidFill>
              </a:defRPr>
            </a:pPr>
            <a:r>
              <a:t>TVT25KMO · Group 17</a:t>
            </a:r>
          </a:p>
          <a:p>
            <a:pPr>
              <a:defRPr>
                <a:solidFill>
                  <a:srgbClr val="8A79AA"/>
                </a:solidFill>
              </a:defRPr>
            </a:pPr>
            <a:r>
              <a:t>Tiina Heponiemi · Joni Koskela · Mariia Sheykina · Juan Ju</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27"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28"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Team and roles</a:t>
            </a:r>
          </a:p>
        </p:txBody>
      </p:sp>
      <p:sp>
        <p:nvSpPr>
          <p:cNvPr id="29" name="Shape 2"/>
          <p:cNvSpPr/>
          <p:nvPr/>
        </p:nvSpPr>
        <p:spPr>
          <a:xfrm>
            <a:off x="457200" y="1280160"/>
            <a:ext cx="1965961" cy="2468880"/>
          </a:xfrm>
          <a:prstGeom prst="roundRect">
            <a:avLst>
              <a:gd name="adj" fmla="val 4651"/>
            </a:avLst>
          </a:prstGeom>
          <a:solidFill>
            <a:srgbClr val="FFFFFF"/>
          </a:solidFill>
          <a:ln w="12700">
            <a:solidFill>
              <a:srgbClr val="D9C8EC"/>
            </a:solidFill>
          </a:ln>
        </p:spPr>
        <p:txBody>
          <a:bodyPr lIns="45719" rIns="45719"/>
          <a:lstStyle/>
          <a:p>
            <a:pPr/>
          </a:p>
        </p:txBody>
      </p:sp>
      <p:sp>
        <p:nvSpPr>
          <p:cNvPr id="30" name="Text 3"/>
          <p:cNvSpPr txBox="1"/>
          <p:nvPr/>
        </p:nvSpPr>
        <p:spPr>
          <a:xfrm>
            <a:off x="640080" y="1486102"/>
            <a:ext cx="160020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4A148C"/>
                </a:solidFill>
              </a:defRPr>
            </a:lvl1pPr>
          </a:lstStyle>
          <a:p>
            <a:pPr/>
            <a:r>
              <a:t>Tiina</a:t>
            </a:r>
          </a:p>
        </p:txBody>
      </p:sp>
      <p:sp>
        <p:nvSpPr>
          <p:cNvPr id="31" name="Text 4"/>
          <p:cNvSpPr txBox="1"/>
          <p:nvPr/>
        </p:nvSpPr>
        <p:spPr>
          <a:xfrm>
            <a:off x="545464" y="1828800"/>
            <a:ext cx="1789432" cy="1100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50394" indent="-150394">
              <a:buSzPct val="100000"/>
              <a:buChar char="★"/>
              <a:defRPr sz="1500">
                <a:solidFill>
                  <a:srgbClr val="482D68"/>
                </a:solidFill>
              </a:defRPr>
            </a:pPr>
            <a:r>
              <a:t> Styles</a:t>
            </a:r>
          </a:p>
          <a:p>
            <a:pPr marL="150394" indent="-150394">
              <a:buSzPct val="100000"/>
              <a:buChar char="★"/>
              <a:defRPr sz="1500">
                <a:solidFill>
                  <a:srgbClr val="482D68"/>
                </a:solidFill>
              </a:defRPr>
            </a:pPr>
            <a:r>
              <a:t> Responsive design</a:t>
            </a:r>
          </a:p>
          <a:p>
            <a:pPr marL="150394" indent="-150394">
              <a:buSzPct val="100000"/>
              <a:buChar char="★"/>
              <a:defRPr sz="1500">
                <a:solidFill>
                  <a:srgbClr val="482D68"/>
                </a:solidFill>
              </a:defRPr>
            </a:pPr>
            <a:r>
              <a:t> Sharing favourites</a:t>
            </a:r>
          </a:p>
          <a:p>
            <a:pPr marL="150394" indent="-150394">
              <a:buSzPct val="100000"/>
              <a:buChar char="★"/>
              <a:defRPr sz="1500">
                <a:solidFill>
                  <a:srgbClr val="482D68"/>
                </a:solidFill>
              </a:defRPr>
            </a:pPr>
          </a:p>
        </p:txBody>
      </p:sp>
      <p:sp>
        <p:nvSpPr>
          <p:cNvPr id="32" name="Shape 5"/>
          <p:cNvSpPr/>
          <p:nvPr/>
        </p:nvSpPr>
        <p:spPr>
          <a:xfrm>
            <a:off x="2560320" y="1280160"/>
            <a:ext cx="1965961" cy="2468880"/>
          </a:xfrm>
          <a:prstGeom prst="roundRect">
            <a:avLst>
              <a:gd name="adj" fmla="val 4651"/>
            </a:avLst>
          </a:prstGeom>
          <a:solidFill>
            <a:srgbClr val="FFFFFF"/>
          </a:solidFill>
          <a:ln w="12700">
            <a:solidFill>
              <a:srgbClr val="D9C8EC"/>
            </a:solidFill>
          </a:ln>
        </p:spPr>
        <p:txBody>
          <a:bodyPr lIns="45719" rIns="45719"/>
          <a:lstStyle/>
          <a:p>
            <a:pPr/>
          </a:p>
        </p:txBody>
      </p:sp>
      <p:sp>
        <p:nvSpPr>
          <p:cNvPr id="33" name="Text 6"/>
          <p:cNvSpPr txBox="1"/>
          <p:nvPr/>
        </p:nvSpPr>
        <p:spPr>
          <a:xfrm>
            <a:off x="2743200" y="1486102"/>
            <a:ext cx="1600200"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4A148C"/>
                </a:solidFill>
              </a:defRPr>
            </a:lvl1pPr>
          </a:lstStyle>
          <a:p>
            <a:pPr/>
            <a:r>
              <a:t>Juan</a:t>
            </a:r>
          </a:p>
        </p:txBody>
      </p:sp>
      <p:sp>
        <p:nvSpPr>
          <p:cNvPr id="34" name="Text 7"/>
          <p:cNvSpPr txBox="1"/>
          <p:nvPr/>
        </p:nvSpPr>
        <p:spPr>
          <a:xfrm>
            <a:off x="2743200" y="1828800"/>
            <a:ext cx="1600200" cy="872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50394" indent="-150394">
              <a:buClr>
                <a:srgbClr val="442E65"/>
              </a:buClr>
              <a:buSzPct val="100000"/>
              <a:buChar char="★"/>
              <a:defRPr sz="1500">
                <a:solidFill>
                  <a:srgbClr val="2B1B3D"/>
                </a:solidFill>
              </a:defRPr>
            </a:pPr>
            <a:r>
              <a:t>Chat</a:t>
            </a:r>
          </a:p>
          <a:p>
            <a:pPr marL="150394" indent="-150394">
              <a:buClr>
                <a:srgbClr val="442E65"/>
              </a:buClr>
              <a:buSzPct val="100000"/>
              <a:buChar char="★"/>
              <a:defRPr sz="1500">
                <a:solidFill>
                  <a:srgbClr val="2B1B3D"/>
                </a:solidFill>
              </a:defRPr>
            </a:pPr>
            <a:r>
              <a:t>User accounts</a:t>
            </a:r>
          </a:p>
          <a:p>
            <a:pPr marL="150394" indent="-150394">
              <a:buClr>
                <a:srgbClr val="442E65"/>
              </a:buClr>
              <a:buSzPct val="100000"/>
              <a:buChar char="★"/>
              <a:defRPr sz="1500">
                <a:solidFill>
                  <a:srgbClr val="2B1B3D"/>
                </a:solidFill>
              </a:defRPr>
            </a:pPr>
            <a:r>
              <a:t>Reviews</a:t>
            </a:r>
          </a:p>
        </p:txBody>
      </p:sp>
      <p:sp>
        <p:nvSpPr>
          <p:cNvPr id="35" name="Shape 8"/>
          <p:cNvSpPr/>
          <p:nvPr/>
        </p:nvSpPr>
        <p:spPr>
          <a:xfrm>
            <a:off x="4663440" y="1280160"/>
            <a:ext cx="1965961" cy="2468880"/>
          </a:xfrm>
          <a:prstGeom prst="roundRect">
            <a:avLst>
              <a:gd name="adj" fmla="val 4651"/>
            </a:avLst>
          </a:prstGeom>
          <a:solidFill>
            <a:srgbClr val="FFFFFF"/>
          </a:solidFill>
          <a:ln w="12700">
            <a:solidFill>
              <a:srgbClr val="D9C8EC"/>
            </a:solidFill>
          </a:ln>
        </p:spPr>
        <p:txBody>
          <a:bodyPr lIns="45719" rIns="45719"/>
          <a:lstStyle/>
          <a:p>
            <a:pPr/>
          </a:p>
        </p:txBody>
      </p:sp>
      <p:sp>
        <p:nvSpPr>
          <p:cNvPr id="36" name="Text 9"/>
          <p:cNvSpPr txBox="1"/>
          <p:nvPr/>
        </p:nvSpPr>
        <p:spPr>
          <a:xfrm>
            <a:off x="4846320" y="1486102"/>
            <a:ext cx="160020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4A148C"/>
                </a:solidFill>
              </a:defRPr>
            </a:lvl1pPr>
          </a:lstStyle>
          <a:p>
            <a:pPr/>
            <a:r>
              <a:t>Joni</a:t>
            </a:r>
          </a:p>
        </p:txBody>
      </p:sp>
      <p:sp>
        <p:nvSpPr>
          <p:cNvPr id="37" name="Text 10"/>
          <p:cNvSpPr txBox="1"/>
          <p:nvPr/>
        </p:nvSpPr>
        <p:spPr>
          <a:xfrm>
            <a:off x="4846320" y="1828800"/>
            <a:ext cx="1600201"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50394" indent="-150394">
              <a:buClr>
                <a:srgbClr val="442E65"/>
              </a:buClr>
              <a:buSzPct val="100000"/>
              <a:buChar char="★"/>
              <a:defRPr sz="1500">
                <a:solidFill>
                  <a:srgbClr val="2B1B3D"/>
                </a:solidFill>
              </a:defRPr>
            </a:pPr>
            <a:r>
              <a:t>Movie search</a:t>
            </a:r>
          </a:p>
          <a:p>
            <a:pPr marL="150394" indent="-150394">
              <a:buClr>
                <a:srgbClr val="442E65"/>
              </a:buClr>
              <a:buSzPct val="100000"/>
              <a:buChar char="★"/>
              <a:defRPr sz="1500">
                <a:solidFill>
                  <a:srgbClr val="2B1B3D"/>
                </a:solidFill>
              </a:defRPr>
            </a:pPr>
            <a:r>
              <a:t>Groups page</a:t>
            </a:r>
          </a:p>
          <a:p>
            <a:pPr marL="150394" indent="-150394">
              <a:buClr>
                <a:srgbClr val="442E65"/>
              </a:buClr>
              <a:buSzPct val="100000"/>
              <a:buChar char="★"/>
              <a:defRPr sz="1500">
                <a:solidFill>
                  <a:srgbClr val="2B1B3D"/>
                </a:solidFill>
              </a:defRPr>
            </a:pPr>
            <a:r>
              <a:t>Single group page</a:t>
            </a:r>
          </a:p>
        </p:txBody>
      </p:sp>
      <p:sp>
        <p:nvSpPr>
          <p:cNvPr id="38" name="Shape 11"/>
          <p:cNvSpPr/>
          <p:nvPr/>
        </p:nvSpPr>
        <p:spPr>
          <a:xfrm>
            <a:off x="6766559" y="1280160"/>
            <a:ext cx="1965961" cy="2468880"/>
          </a:xfrm>
          <a:prstGeom prst="roundRect">
            <a:avLst>
              <a:gd name="adj" fmla="val 4651"/>
            </a:avLst>
          </a:prstGeom>
          <a:solidFill>
            <a:srgbClr val="FFFFFF"/>
          </a:solidFill>
          <a:ln w="12700">
            <a:solidFill>
              <a:srgbClr val="D9C8EC"/>
            </a:solidFill>
          </a:ln>
        </p:spPr>
        <p:txBody>
          <a:bodyPr lIns="45719" rIns="45719"/>
          <a:lstStyle/>
          <a:p>
            <a:pPr/>
          </a:p>
        </p:txBody>
      </p:sp>
      <p:sp>
        <p:nvSpPr>
          <p:cNvPr id="39" name="Text 12"/>
          <p:cNvSpPr txBox="1"/>
          <p:nvPr/>
        </p:nvSpPr>
        <p:spPr>
          <a:xfrm>
            <a:off x="6949440" y="1486102"/>
            <a:ext cx="160020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4A148C"/>
                </a:solidFill>
              </a:defRPr>
            </a:lvl1pPr>
          </a:lstStyle>
          <a:p>
            <a:pPr/>
            <a:r>
              <a:t>Mariia</a:t>
            </a:r>
          </a:p>
        </p:txBody>
      </p:sp>
      <p:sp>
        <p:nvSpPr>
          <p:cNvPr id="40" name="Text 13"/>
          <p:cNvSpPr txBox="1"/>
          <p:nvPr/>
        </p:nvSpPr>
        <p:spPr>
          <a:xfrm>
            <a:off x="6949440" y="1828800"/>
            <a:ext cx="1600201"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50394" indent="-150394">
              <a:buSzPct val="100000"/>
              <a:buChar char="★"/>
              <a:defRPr sz="1500">
                <a:solidFill>
                  <a:srgbClr val="442E65"/>
                </a:solidFill>
              </a:defRPr>
            </a:pPr>
            <a:r>
              <a:t>Main page</a:t>
            </a:r>
          </a:p>
          <a:p>
            <a:pPr marL="150394" indent="-150394">
              <a:buSzPct val="100000"/>
              <a:buChar char="★"/>
              <a:defRPr sz="1500">
                <a:solidFill>
                  <a:srgbClr val="442E65"/>
                </a:solidFill>
              </a:defRPr>
            </a:pPr>
            <a:r>
              <a:t>Single group </a:t>
            </a:r>
          </a:p>
          <a:p>
            <a:pPr marL="150394" indent="-150394">
              <a:buSzPct val="100000"/>
              <a:buChar char="★"/>
              <a:defRPr sz="1500">
                <a:solidFill>
                  <a:srgbClr val="442E65"/>
                </a:solidFill>
              </a:defRPr>
            </a:pPr>
            <a:r>
              <a:t>Single movie page</a:t>
            </a:r>
          </a:p>
        </p:txBody>
      </p:sp>
      <p:sp>
        <p:nvSpPr>
          <p:cNvPr id="41" name="Text 14"/>
          <p:cNvSpPr txBox="1"/>
          <p:nvPr/>
        </p:nvSpPr>
        <p:spPr>
          <a:xfrm>
            <a:off x="457200" y="4238823"/>
            <a:ext cx="82296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600">
                <a:solidFill>
                  <a:srgbClr val="4A148C"/>
                </a:solidFill>
              </a:defRPr>
            </a:lvl1pPr>
          </a:lstStyle>
          <a:p>
            <a:pPr/>
            <a:r>
              <a:t>Teamwork: we all worked on the same features – nobody built a feature alone</a:t>
            </a:r>
          </a:p>
        </p:txBody>
      </p:sp>
      <p:sp>
        <p:nvSpPr>
          <p:cNvPr id="42" name="Text 4"/>
          <p:cNvSpPr txBox="1"/>
          <p:nvPr/>
        </p:nvSpPr>
        <p:spPr>
          <a:xfrm>
            <a:off x="545464" y="3053402"/>
            <a:ext cx="1789432"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82D68"/>
                </a:solidFill>
              </a:defRPr>
            </a:pPr>
          </a:p>
          <a:p>
            <a:pPr algn="r">
              <a:defRPr sz="1500">
                <a:solidFill>
                  <a:srgbClr val="482D68"/>
                </a:solidFill>
              </a:defRPr>
            </a:pPr>
            <a:r>
              <a:t>84 hours</a:t>
            </a:r>
          </a:p>
        </p:txBody>
      </p:sp>
      <p:sp>
        <p:nvSpPr>
          <p:cNvPr id="43" name="Text 4"/>
          <p:cNvSpPr txBox="1"/>
          <p:nvPr/>
        </p:nvSpPr>
        <p:spPr>
          <a:xfrm>
            <a:off x="2648584" y="3053402"/>
            <a:ext cx="1789432"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82D68"/>
                </a:solidFill>
              </a:defRPr>
            </a:pPr>
          </a:p>
          <a:p>
            <a:pPr algn="r">
              <a:defRPr sz="1500">
                <a:solidFill>
                  <a:srgbClr val="482D68"/>
                </a:solidFill>
              </a:defRPr>
            </a:pPr>
            <a:r>
              <a:t>78 hours</a:t>
            </a:r>
          </a:p>
        </p:txBody>
      </p:sp>
      <p:sp>
        <p:nvSpPr>
          <p:cNvPr id="44" name="Text 4"/>
          <p:cNvSpPr txBox="1"/>
          <p:nvPr/>
        </p:nvSpPr>
        <p:spPr>
          <a:xfrm>
            <a:off x="4704397" y="3053402"/>
            <a:ext cx="1789431"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82D68"/>
                </a:solidFill>
              </a:defRPr>
            </a:pPr>
          </a:p>
          <a:p>
            <a:pPr algn="r">
              <a:defRPr sz="1500">
                <a:solidFill>
                  <a:srgbClr val="482D68"/>
                </a:solidFill>
              </a:defRPr>
            </a:pPr>
            <a:r>
              <a:t>56 hours</a:t>
            </a:r>
          </a:p>
        </p:txBody>
      </p:sp>
      <p:sp>
        <p:nvSpPr>
          <p:cNvPr id="45" name="Text 4"/>
          <p:cNvSpPr txBox="1"/>
          <p:nvPr/>
        </p:nvSpPr>
        <p:spPr>
          <a:xfrm>
            <a:off x="6854825" y="3053402"/>
            <a:ext cx="1789431"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82D68"/>
                </a:solidFill>
              </a:defRPr>
            </a:pPr>
          </a:p>
          <a:p>
            <a:pPr algn="r">
              <a:defRPr sz="1500">
                <a:solidFill>
                  <a:srgbClr val="482D68"/>
                </a:solidFill>
              </a:defRPr>
            </a:pPr>
            <a:r>
              <a:t>156 hours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49"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50"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Key features / demo</a:t>
            </a:r>
          </a:p>
        </p:txBody>
      </p:sp>
      <p:sp>
        <p:nvSpPr>
          <p:cNvPr id="51" name="Shape 2"/>
          <p:cNvSpPr/>
          <p:nvPr/>
        </p:nvSpPr>
        <p:spPr>
          <a:xfrm>
            <a:off x="457200" y="1097280"/>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52" name="Text 3"/>
          <p:cNvSpPr txBox="1"/>
          <p:nvPr/>
        </p:nvSpPr>
        <p:spPr>
          <a:xfrm>
            <a:off x="640080" y="1291924"/>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1. Tiina</a:t>
            </a:r>
          </a:p>
        </p:txBody>
      </p:sp>
      <p:sp>
        <p:nvSpPr>
          <p:cNvPr id="53" name="Text 4"/>
          <p:cNvSpPr txBox="1"/>
          <p:nvPr/>
        </p:nvSpPr>
        <p:spPr>
          <a:xfrm>
            <a:off x="640080" y="1645920"/>
            <a:ext cx="3657601" cy="717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p>
          <a:p>
            <a:pPr>
              <a:defRPr sz="1600">
                <a:solidFill>
                  <a:srgbClr val="2B1B3D"/>
                </a:solidFill>
              </a:defRPr>
            </a:pPr>
            <a:r>
              <a:t>Now in cinemas· Sign up · Login · Search · One movie page · Reviews</a:t>
            </a:r>
          </a:p>
        </p:txBody>
      </p:sp>
      <p:sp>
        <p:nvSpPr>
          <p:cNvPr id="54" name="Shape 5"/>
          <p:cNvSpPr/>
          <p:nvPr/>
        </p:nvSpPr>
        <p:spPr>
          <a:xfrm>
            <a:off x="2560320" y="2977039"/>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55" name="Text 6"/>
          <p:cNvSpPr txBox="1"/>
          <p:nvPr/>
        </p:nvSpPr>
        <p:spPr>
          <a:xfrm>
            <a:off x="2743200" y="3171683"/>
            <a:ext cx="3657600"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3.Juan</a:t>
            </a:r>
          </a:p>
        </p:txBody>
      </p:sp>
      <p:sp>
        <p:nvSpPr>
          <p:cNvPr id="56" name="Text 7"/>
          <p:cNvSpPr txBox="1"/>
          <p:nvPr/>
        </p:nvSpPr>
        <p:spPr>
          <a:xfrm>
            <a:off x="2743200" y="3525679"/>
            <a:ext cx="3657600" cy="717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p>
          <a:p>
            <a:pPr>
              <a:defRPr sz="1600">
                <a:solidFill>
                  <a:srgbClr val="2B1B3D"/>
                </a:solidFill>
              </a:defRPr>
            </a:pPr>
            <a:r>
              <a:t>Favourites · </a:t>
            </a:r>
            <a:r>
              <a:t>Share link · My account: invitations · Delete · Logout</a:t>
            </a:r>
          </a:p>
        </p:txBody>
      </p:sp>
      <p:sp>
        <p:nvSpPr>
          <p:cNvPr id="57" name="Shape 8"/>
          <p:cNvSpPr/>
          <p:nvPr/>
        </p:nvSpPr>
        <p:spPr>
          <a:xfrm>
            <a:off x="4705024" y="1097280"/>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58" name="Text 9"/>
          <p:cNvSpPr txBox="1"/>
          <p:nvPr/>
        </p:nvSpPr>
        <p:spPr>
          <a:xfrm>
            <a:off x="4887903" y="1291924"/>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2.Joni</a:t>
            </a:r>
          </a:p>
        </p:txBody>
      </p:sp>
      <p:sp>
        <p:nvSpPr>
          <p:cNvPr id="59" name="Text 10"/>
          <p:cNvSpPr txBox="1"/>
          <p:nvPr/>
        </p:nvSpPr>
        <p:spPr>
          <a:xfrm>
            <a:off x="4887903" y="1547837"/>
            <a:ext cx="3657601" cy="717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p>
          <a:p>
            <a:pPr>
              <a:defRPr sz="1600">
                <a:solidFill>
                  <a:srgbClr val="2B1B3D"/>
                </a:solidFill>
              </a:defRPr>
            </a:pPr>
            <a:r>
              <a:t>Create group · Invitations · Requests · Deleted user · Chat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63"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64"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Feature checklist</a:t>
            </a:r>
          </a:p>
        </p:txBody>
      </p:sp>
      <p:graphicFrame>
        <p:nvGraphicFramePr>
          <p:cNvPr id="65" name="Table 0"/>
          <p:cNvGraphicFramePr/>
          <p:nvPr/>
        </p:nvGraphicFramePr>
        <p:xfrm>
          <a:off x="207144" y="1449883"/>
          <a:ext cx="8736062" cy="42967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97142"/>
                <a:gridCol w="6063179"/>
                <a:gridCol w="869388"/>
              </a:tblGrid>
              <a:tr h="254654">
                <a:tc>
                  <a:txBody>
                    <a:bodyPr/>
                    <a:lstStyle/>
                    <a:p>
                      <a:pPr algn="l">
                        <a:defRPr sz="1800"/>
                      </a:pPr>
                      <a:r>
                        <a:rPr b="1" sz="1200">
                          <a:solidFill>
                            <a:srgbClr val="FFFFFF"/>
                          </a:solidFill>
                        </a:rPr>
                        <a:t>Feature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E05A9A"/>
                    </a:solidFill>
                  </a:tcPr>
                </a:tc>
                <a:tc>
                  <a:txBody>
                    <a:bodyPr/>
                    <a:lstStyle/>
                    <a:p>
                      <a:pPr algn="ctr">
                        <a:defRPr sz="1800"/>
                      </a:pPr>
                      <a:r>
                        <a:rPr b="1" sz="1200">
                          <a:solidFill>
                            <a:srgbClr val="FFFFFF"/>
                          </a:solidFill>
                        </a:rPr>
                        <a:t>Description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E05A9A"/>
                    </a:solidFill>
                  </a:tcPr>
                </a:tc>
                <a:tc>
                  <a:txBody>
                    <a:bodyPr/>
                    <a:lstStyle/>
                    <a:p>
                      <a:pPr algn="ctr">
                        <a:defRPr sz="1800"/>
                      </a:pPr>
                      <a:r>
                        <a:rPr b="1" sz="1200">
                          <a:solidFill>
                            <a:srgbClr val="FFFFFF"/>
                          </a:solidFill>
                        </a:rPr>
                        <a:t>Status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E05A9A"/>
                    </a:solidFill>
                  </a:tcPr>
                </a:tc>
              </a:tr>
              <a:tr h="275590">
                <a:tc>
                  <a:txBody>
                    <a:bodyPr/>
                    <a:lstStyle/>
                    <a:p>
                      <a:pPr algn="l" defTabSz="457200">
                        <a:defRPr sz="1800"/>
                      </a:pPr>
                      <a:r>
                        <a:rPr sz="1200">
                          <a:latin typeface="+mn-lt"/>
                          <a:ea typeface="+mn-ea"/>
                          <a:cs typeface="+mn-cs"/>
                          <a:sym typeface="Helvetica"/>
                        </a:rPr>
                        <a:t>1. Responsiveness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All pages adapt to different screen sizes, including desktop, tablet, and mobile.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2. Sign up</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create an account using their email address and a password containing at least 8 characters, one uppercase letter, and one number.</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3. Log in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log in with their registered credentials and log out of their accounts.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4. Delete account</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delete their accounts, including their reviews and favourites. If a group owner deletes their account, ownership is transferred to the designated deleted user.</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5. Search</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search for movies using at least three criteria: title, year, and genre. Searching does not require logging in.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6. Now in cinemas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view movies currently showing in cinemas in Finland without logging in.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7. Group page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All users can browse the group list. Logged-in users can create groups, and only group members can view group details. Group owners can delete their groups.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8. Add member to group</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request to join a group, and group owners can accept or reject requests. Group members can also invite users by email.</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69"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70"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Feature checklist</a:t>
            </a:r>
          </a:p>
        </p:txBody>
      </p:sp>
      <p:graphicFrame>
        <p:nvGraphicFramePr>
          <p:cNvPr id="71" name="Table 0"/>
          <p:cNvGraphicFramePr/>
          <p:nvPr/>
        </p:nvGraphicFramePr>
        <p:xfrm>
          <a:off x="207144" y="1731485"/>
          <a:ext cx="8736062" cy="4296728"/>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97142"/>
                <a:gridCol w="6063179"/>
                <a:gridCol w="869388"/>
              </a:tblGrid>
              <a:tr h="254654">
                <a:tc>
                  <a:txBody>
                    <a:bodyPr/>
                    <a:lstStyle/>
                    <a:p>
                      <a:pPr algn="l">
                        <a:defRPr sz="1800"/>
                      </a:pPr>
                      <a:r>
                        <a:rPr b="1" sz="1200">
                          <a:solidFill>
                            <a:srgbClr val="FFFFFF"/>
                          </a:solidFill>
                        </a:rPr>
                        <a:t>Feature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E05A9A"/>
                    </a:solidFill>
                  </a:tcPr>
                </a:tc>
                <a:tc>
                  <a:txBody>
                    <a:bodyPr/>
                    <a:lstStyle/>
                    <a:p>
                      <a:pPr algn="ctr">
                        <a:defRPr sz="1800"/>
                      </a:pPr>
                      <a:r>
                        <a:rPr b="1" sz="1200">
                          <a:solidFill>
                            <a:srgbClr val="FFFFFF"/>
                          </a:solidFill>
                        </a:rPr>
                        <a:t>Description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E05A9A"/>
                    </a:solidFill>
                  </a:tcPr>
                </a:tc>
                <a:tc>
                  <a:txBody>
                    <a:bodyPr/>
                    <a:lstStyle/>
                    <a:p>
                      <a:pPr algn="ctr">
                        <a:defRPr sz="1800"/>
                      </a:pPr>
                      <a:r>
                        <a:rPr b="1" sz="1200">
                          <a:solidFill>
                            <a:srgbClr val="FFFFFF"/>
                          </a:solidFill>
                        </a:rPr>
                        <a:t>Status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E05A9A"/>
                    </a:solidFill>
                  </a:tcPr>
                </a:tc>
              </a:tr>
              <a:tr h="254654">
                <a:tc>
                  <a:txBody>
                    <a:bodyPr/>
                    <a:lstStyle/>
                    <a:p>
                      <a:pPr algn="l" defTabSz="457200">
                        <a:defRPr sz="1800"/>
                      </a:pPr>
                      <a:r>
                        <a:rPr sz="1200">
                          <a:latin typeface="+mn-lt"/>
                          <a:ea typeface="+mn-ea"/>
                          <a:cs typeface="+mn-cs"/>
                          <a:sym typeface="Helvetica"/>
                        </a:rPr>
                        <a:t>9. Remove member</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Group owners can remove members and members can leave groups themselves.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10. Group page customization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Group members can add movies to their group page from the search results and remove movies.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11. Movie review</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Group members can add movies to their group page from the search results and remove movies.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12. Browsing reviews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Movie reviews are visible to all users, including those who are not logged in.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13. Favourites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Logged-in users can create and manage a personal list of favourite movies, accessible through its own page.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14. Sharing favourites</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Users can share their favourite movie lists through a URL that other users can open.</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r h="254654">
                <a:tc>
                  <a:txBody>
                    <a:bodyPr/>
                    <a:lstStyle/>
                    <a:p>
                      <a:pPr algn="l" defTabSz="457200">
                        <a:defRPr sz="1800"/>
                      </a:pPr>
                      <a:r>
                        <a:rPr sz="1200">
                          <a:latin typeface="+mn-lt"/>
                          <a:ea typeface="+mn-ea"/>
                          <a:cs typeface="+mn-cs"/>
                          <a:sym typeface="Helvetica"/>
                        </a:rPr>
                        <a:t>15. Extra feature: Group chat</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Group members can communicate through a group chat.</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c>
                  <a:txBody>
                    <a:bodyPr/>
                    <a:lstStyle/>
                    <a:p>
                      <a:pPr algn="ctr" defTabSz="457200">
                        <a:defRPr sz="1800"/>
                      </a:pPr>
                      <a:r>
                        <a:rPr sz="1200">
                          <a:latin typeface="+mn-lt"/>
                          <a:ea typeface="+mn-ea"/>
                          <a:cs typeface="+mn-cs"/>
                          <a:sym typeface="Helvetica"/>
                        </a:rPr>
                        <a:t>Done</a:t>
                      </a:r>
                    </a:p>
                  </a:txBody>
                  <a:tcPr marL="45720" marR="45720" marT="45720" marB="45720" anchor="t" anchorCtr="0" horzOverflow="overflow">
                    <a:lnL w="6350">
                      <a:solidFill>
                        <a:srgbClr val="D9C8EC"/>
                      </a:solidFill>
                    </a:lnL>
                    <a:lnR w="6350">
                      <a:solidFill>
                        <a:srgbClr val="D9C8EC"/>
                      </a:solidFill>
                    </a:lnR>
                    <a:lnT w="6350">
                      <a:solidFill>
                        <a:srgbClr val="D9C8EC"/>
                      </a:solidFill>
                    </a:lnT>
                    <a:lnB w="6350">
                      <a:solidFill>
                        <a:srgbClr val="D9C8EC"/>
                      </a:solidFill>
                    </a:lnB>
                    <a:solidFill>
                      <a:srgbClr val="FFFFFF"/>
                    </a:solid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73"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74"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Challenges</a:t>
            </a:r>
          </a:p>
        </p:txBody>
      </p:sp>
      <p:sp>
        <p:nvSpPr>
          <p:cNvPr id="75" name="Shape 2"/>
          <p:cNvSpPr/>
          <p:nvPr/>
        </p:nvSpPr>
        <p:spPr>
          <a:xfrm>
            <a:off x="457200" y="1097280"/>
            <a:ext cx="4023360" cy="3383280"/>
          </a:xfrm>
          <a:prstGeom prst="roundRect">
            <a:avLst>
              <a:gd name="adj" fmla="val 2703"/>
            </a:avLst>
          </a:prstGeom>
          <a:solidFill>
            <a:srgbClr val="FFFFFF"/>
          </a:solidFill>
          <a:ln w="12700">
            <a:solidFill>
              <a:srgbClr val="D9C8EC"/>
            </a:solidFill>
          </a:ln>
        </p:spPr>
        <p:txBody>
          <a:bodyPr lIns="45719" rIns="45719"/>
          <a:lstStyle/>
          <a:p>
            <a:pPr/>
          </a:p>
        </p:txBody>
      </p:sp>
      <p:sp>
        <p:nvSpPr>
          <p:cNvPr id="76" name="Text 3"/>
          <p:cNvSpPr txBox="1"/>
          <p:nvPr/>
        </p:nvSpPr>
        <p:spPr>
          <a:xfrm>
            <a:off x="640080" y="1291924"/>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Technical: My Account page</a:t>
            </a:r>
          </a:p>
        </p:txBody>
      </p:sp>
      <p:sp>
        <p:nvSpPr>
          <p:cNvPr id="77" name="Text 4"/>
          <p:cNvSpPr txBox="1"/>
          <p:nvPr/>
        </p:nvSpPr>
        <p:spPr>
          <a:xfrm>
            <a:off x="640080" y="2237356"/>
            <a:ext cx="3657601" cy="1225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r>
              <a:t>Page was empty after the token expired</a:t>
            </a:r>
          </a:p>
          <a:p>
            <a:pPr>
              <a:defRPr sz="1600"/>
            </a:pPr>
          </a:p>
          <a:p>
            <a:pPr>
              <a:defRPr sz="1600">
                <a:solidFill>
                  <a:srgbClr val="2B1B3D"/>
                </a:solidFill>
              </a:defRPr>
            </a:pPr>
            <a:r>
              <a:t>Cause: code related to the token</a:t>
            </a:r>
          </a:p>
          <a:p>
            <a:pPr>
              <a:defRPr sz="1600"/>
            </a:pPr>
          </a:p>
          <a:p>
            <a:pPr>
              <a:defRPr sz="1600">
                <a:solidFill>
                  <a:srgbClr val="2B1B3D"/>
                </a:solidFill>
              </a:defRPr>
            </a:pPr>
            <a:r>
              <a:t>→ Found and fixed, page works correctly</a:t>
            </a:r>
          </a:p>
        </p:txBody>
      </p:sp>
      <p:sp>
        <p:nvSpPr>
          <p:cNvPr id="78" name="Shape 5"/>
          <p:cNvSpPr/>
          <p:nvPr/>
        </p:nvSpPr>
        <p:spPr>
          <a:xfrm>
            <a:off x="4663440" y="1097280"/>
            <a:ext cx="4023360" cy="3383280"/>
          </a:xfrm>
          <a:prstGeom prst="roundRect">
            <a:avLst>
              <a:gd name="adj" fmla="val 2703"/>
            </a:avLst>
          </a:prstGeom>
          <a:solidFill>
            <a:srgbClr val="FFFFFF"/>
          </a:solidFill>
          <a:ln w="12700">
            <a:solidFill>
              <a:srgbClr val="D9C8EC"/>
            </a:solidFill>
          </a:ln>
        </p:spPr>
        <p:txBody>
          <a:bodyPr lIns="45719" rIns="45719"/>
          <a:lstStyle/>
          <a:p>
            <a:pPr/>
          </a:p>
        </p:txBody>
      </p:sp>
      <p:sp>
        <p:nvSpPr>
          <p:cNvPr id="79" name="Text 6"/>
          <p:cNvSpPr txBox="1"/>
          <p:nvPr/>
        </p:nvSpPr>
        <p:spPr>
          <a:xfrm>
            <a:off x="4846320" y="1291924"/>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Teamwork</a:t>
            </a:r>
          </a:p>
        </p:txBody>
      </p:sp>
      <p:sp>
        <p:nvSpPr>
          <p:cNvPr id="80" name="Text 7"/>
          <p:cNvSpPr txBox="1"/>
          <p:nvPr/>
        </p:nvSpPr>
        <p:spPr>
          <a:xfrm>
            <a:off x="4846320" y="1996185"/>
            <a:ext cx="3657601" cy="1987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r>
              <a:t>Merge conflicts in Git</a:t>
            </a:r>
          </a:p>
          <a:p>
            <a:pPr>
              <a:defRPr sz="1600">
                <a:solidFill>
                  <a:srgbClr val="2B1B3D"/>
                </a:solidFill>
              </a:defRPr>
            </a:pPr>
            <a:r>
              <a:t>Pull requests waiting with conflicts</a:t>
            </a:r>
          </a:p>
          <a:p>
            <a:pPr>
              <a:defRPr sz="1600">
                <a:solidFill>
                  <a:srgbClr val="2B1B3D"/>
                </a:solidFill>
              </a:defRPr>
            </a:pPr>
          </a:p>
          <a:p>
            <a:pPr>
              <a:defRPr sz="1600">
                <a:solidFill>
                  <a:srgbClr val="2B1B3D"/>
                </a:solidFill>
              </a:defRPr>
            </a:pPr>
            <a:r>
              <a:t>Code appeared twice → chat messages doubled</a:t>
            </a:r>
          </a:p>
          <a:p>
            <a:pPr>
              <a:defRPr sz="1600"/>
            </a:pPr>
          </a:p>
          <a:p>
            <a:pPr>
              <a:defRPr sz="1600">
                <a:solidFill>
                  <a:srgbClr val="2B1B3D"/>
                </a:solidFill>
              </a:defRPr>
            </a:pPr>
            <a:r>
              <a:t>We resolve our own conflicts and review each other's code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84"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85"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Lessons learned</a:t>
            </a:r>
          </a:p>
        </p:txBody>
      </p:sp>
      <p:sp>
        <p:nvSpPr>
          <p:cNvPr id="86" name="Shape 2"/>
          <p:cNvSpPr/>
          <p:nvPr/>
        </p:nvSpPr>
        <p:spPr>
          <a:xfrm>
            <a:off x="457200" y="1188719"/>
            <a:ext cx="2651761" cy="3108962"/>
          </a:xfrm>
          <a:prstGeom prst="roundRect">
            <a:avLst>
              <a:gd name="adj" fmla="val 3448"/>
            </a:avLst>
          </a:prstGeom>
          <a:solidFill>
            <a:srgbClr val="FFFFFF"/>
          </a:solidFill>
          <a:ln w="12700">
            <a:solidFill>
              <a:srgbClr val="D9C8EC"/>
            </a:solidFill>
          </a:ln>
        </p:spPr>
        <p:txBody>
          <a:bodyPr lIns="45719" rIns="45719"/>
          <a:lstStyle/>
          <a:p>
            <a:pPr/>
          </a:p>
        </p:txBody>
      </p:sp>
      <p:sp>
        <p:nvSpPr>
          <p:cNvPr id="87" name="Text 3"/>
          <p:cNvSpPr txBox="1"/>
          <p:nvPr/>
        </p:nvSpPr>
        <p:spPr>
          <a:xfrm>
            <a:off x="640080" y="1383364"/>
            <a:ext cx="22860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Technical</a:t>
            </a:r>
          </a:p>
        </p:txBody>
      </p:sp>
      <p:sp>
        <p:nvSpPr>
          <p:cNvPr id="88" name="Text 4"/>
          <p:cNvSpPr txBox="1"/>
          <p:nvPr/>
        </p:nvSpPr>
        <p:spPr>
          <a:xfrm>
            <a:off x="640080" y="1737360"/>
            <a:ext cx="2286001" cy="1225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60421" indent="-160421">
              <a:buClr>
                <a:srgbClr val="442E65"/>
              </a:buClr>
              <a:buSzPct val="100000"/>
              <a:buChar char="★"/>
              <a:defRPr sz="1600">
                <a:solidFill>
                  <a:srgbClr val="2B1B3D"/>
                </a:solidFill>
              </a:defRPr>
            </a:pPr>
            <a:r>
              <a:t> React </a:t>
            </a:r>
          </a:p>
          <a:p>
            <a:pPr marL="160421" indent="-160421">
              <a:buClr>
                <a:srgbClr val="442E65"/>
              </a:buClr>
              <a:buSzPct val="100000"/>
              <a:buChar char="★"/>
              <a:defRPr sz="1600">
                <a:solidFill>
                  <a:srgbClr val="2B1B3D"/>
                </a:solidFill>
              </a:defRPr>
            </a:pPr>
            <a:r>
              <a:t> Node.js</a:t>
            </a:r>
          </a:p>
          <a:p>
            <a:pPr marL="160421" indent="-160421">
              <a:buClr>
                <a:srgbClr val="442E65"/>
              </a:buClr>
              <a:buSzPct val="100000"/>
              <a:buChar char="★"/>
              <a:defRPr sz="1600">
                <a:solidFill>
                  <a:srgbClr val="2B1B3D"/>
                </a:solidFill>
              </a:defRPr>
            </a:pPr>
            <a:r>
              <a:t> </a:t>
            </a:r>
            <a:r>
              <a:t>PostgreSQL </a:t>
            </a:r>
          </a:p>
          <a:p>
            <a:pPr marL="160421" indent="-160421">
              <a:buClr>
                <a:srgbClr val="442E65"/>
              </a:buClr>
              <a:buSzPct val="100000"/>
              <a:buChar char="★"/>
              <a:defRPr sz="1600">
                <a:solidFill>
                  <a:srgbClr val="2B1B3D"/>
                </a:solidFill>
              </a:defRPr>
            </a:pPr>
            <a:r>
              <a:t> Tests</a:t>
            </a:r>
          </a:p>
          <a:p>
            <a:pPr marL="160421" indent="-160421">
              <a:buClr>
                <a:srgbClr val="442E65"/>
              </a:buClr>
              <a:buSzPct val="100000"/>
              <a:buChar char="★"/>
              <a:defRPr sz="1600">
                <a:solidFill>
                  <a:srgbClr val="2B1B3D"/>
                </a:solidFill>
              </a:defRPr>
            </a:pPr>
            <a:r>
              <a:t> </a:t>
            </a:r>
            <a:r>
              <a:t>Docker</a:t>
            </a:r>
          </a:p>
        </p:txBody>
      </p:sp>
      <p:sp>
        <p:nvSpPr>
          <p:cNvPr id="89" name="Shape 5"/>
          <p:cNvSpPr/>
          <p:nvPr/>
        </p:nvSpPr>
        <p:spPr>
          <a:xfrm>
            <a:off x="3246120" y="1188719"/>
            <a:ext cx="2651761" cy="3108962"/>
          </a:xfrm>
          <a:prstGeom prst="roundRect">
            <a:avLst>
              <a:gd name="adj" fmla="val 3448"/>
            </a:avLst>
          </a:prstGeom>
          <a:solidFill>
            <a:srgbClr val="FFFFFF"/>
          </a:solidFill>
          <a:ln w="12700">
            <a:solidFill>
              <a:srgbClr val="D9C8EC"/>
            </a:solidFill>
          </a:ln>
        </p:spPr>
        <p:txBody>
          <a:bodyPr lIns="45719" rIns="45719"/>
          <a:lstStyle/>
          <a:p>
            <a:pPr/>
          </a:p>
        </p:txBody>
      </p:sp>
      <p:sp>
        <p:nvSpPr>
          <p:cNvPr id="90" name="Text 6"/>
          <p:cNvSpPr txBox="1"/>
          <p:nvPr/>
        </p:nvSpPr>
        <p:spPr>
          <a:xfrm>
            <a:off x="3429000" y="1383364"/>
            <a:ext cx="228600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Security &amp; web</a:t>
            </a:r>
          </a:p>
        </p:txBody>
      </p:sp>
      <p:sp>
        <p:nvSpPr>
          <p:cNvPr id="91" name="Text 7"/>
          <p:cNvSpPr txBox="1"/>
          <p:nvPr/>
        </p:nvSpPr>
        <p:spPr>
          <a:xfrm>
            <a:off x="3429000" y="1737360"/>
            <a:ext cx="2286000" cy="147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60421" indent="-160421">
              <a:buSzPct val="100000"/>
              <a:buChar char="★"/>
              <a:defRPr sz="1600">
                <a:solidFill>
                  <a:srgbClr val="452E65"/>
                </a:solidFill>
              </a:defRPr>
            </a:pPr>
            <a:r>
              <a:t> Cookies</a:t>
            </a:r>
          </a:p>
          <a:p>
            <a:pPr marL="160421" indent="-160421">
              <a:buSzPct val="100000"/>
              <a:buChar char="★"/>
              <a:defRPr sz="1600">
                <a:solidFill>
                  <a:srgbClr val="452E65"/>
                </a:solidFill>
              </a:defRPr>
            </a:pPr>
            <a:r>
              <a:t> CORS</a:t>
            </a:r>
          </a:p>
          <a:p>
            <a:pPr marL="160421" indent="-160421">
              <a:buSzPct val="100000"/>
              <a:buChar char="★"/>
              <a:defRPr sz="1600">
                <a:solidFill>
                  <a:srgbClr val="452E65"/>
                </a:solidFill>
              </a:defRPr>
            </a:pPr>
            <a:r>
              <a:t> Password validation</a:t>
            </a:r>
          </a:p>
          <a:p>
            <a:pPr marL="160421" indent="-160421">
              <a:buSzPct val="100000"/>
              <a:buChar char="★"/>
              <a:defRPr sz="1600">
                <a:solidFill>
                  <a:srgbClr val="452E65"/>
                </a:solidFill>
              </a:defRPr>
            </a:pPr>
            <a:r>
              <a:t> Database transactions</a:t>
            </a:r>
          </a:p>
          <a:p>
            <a:pPr marL="160421" indent="-160421">
              <a:buSzPct val="100000"/>
              <a:buChar char="★"/>
              <a:defRPr sz="1600">
                <a:solidFill>
                  <a:srgbClr val="452E65"/>
                </a:solidFill>
              </a:defRPr>
            </a:pPr>
            <a:r>
              <a:t> Socket.io chat</a:t>
            </a:r>
          </a:p>
          <a:p>
            <a:pPr marL="160421" indent="-160421">
              <a:buSzPct val="100000"/>
              <a:buChar char="★"/>
              <a:defRPr sz="1600">
                <a:solidFill>
                  <a:srgbClr val="452E65"/>
                </a:solidFill>
              </a:defRPr>
            </a:pPr>
            <a:r>
              <a:t> Security vulnerabilities</a:t>
            </a:r>
          </a:p>
        </p:txBody>
      </p:sp>
      <p:sp>
        <p:nvSpPr>
          <p:cNvPr id="92" name="Shape 8"/>
          <p:cNvSpPr/>
          <p:nvPr/>
        </p:nvSpPr>
        <p:spPr>
          <a:xfrm>
            <a:off x="6035040" y="1188719"/>
            <a:ext cx="2651761" cy="3108962"/>
          </a:xfrm>
          <a:prstGeom prst="roundRect">
            <a:avLst>
              <a:gd name="adj" fmla="val 3448"/>
            </a:avLst>
          </a:prstGeom>
          <a:solidFill>
            <a:srgbClr val="FFFFFF"/>
          </a:solidFill>
          <a:ln w="12700">
            <a:solidFill>
              <a:srgbClr val="D9C8EC"/>
            </a:solidFill>
          </a:ln>
        </p:spPr>
        <p:txBody>
          <a:bodyPr lIns="45719" rIns="45719"/>
          <a:lstStyle/>
          <a:p>
            <a:pPr/>
          </a:p>
        </p:txBody>
      </p:sp>
      <p:sp>
        <p:nvSpPr>
          <p:cNvPr id="93" name="Text 9"/>
          <p:cNvSpPr txBox="1"/>
          <p:nvPr/>
        </p:nvSpPr>
        <p:spPr>
          <a:xfrm>
            <a:off x="6217920" y="1383364"/>
            <a:ext cx="22860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Teamwork</a:t>
            </a:r>
          </a:p>
        </p:txBody>
      </p:sp>
      <p:sp>
        <p:nvSpPr>
          <p:cNvPr id="94" name="Text 10"/>
          <p:cNvSpPr txBox="1"/>
          <p:nvPr/>
        </p:nvSpPr>
        <p:spPr>
          <a:xfrm>
            <a:off x="6217920" y="1737360"/>
            <a:ext cx="2286001" cy="717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60421" indent="-160421">
              <a:buSzPct val="100000"/>
              <a:buChar char="★"/>
              <a:defRPr sz="1600">
                <a:solidFill>
                  <a:srgbClr val="452E65"/>
                </a:solidFill>
              </a:defRPr>
            </a:pPr>
            <a:r>
              <a:t> Plan small tasks</a:t>
            </a:r>
          </a:p>
          <a:p>
            <a:pPr marL="160421" indent="-160421">
              <a:buSzPct val="100000"/>
              <a:buChar char="★"/>
              <a:defRPr sz="1600">
                <a:solidFill>
                  <a:srgbClr val="452E65"/>
                </a:solidFill>
              </a:defRPr>
            </a:pPr>
            <a:r>
              <a:t> Test often</a:t>
            </a:r>
          </a:p>
          <a:p>
            <a:pPr marL="160421" indent="-160421">
              <a:buSzPct val="100000"/>
              <a:buChar char="★"/>
              <a:defRPr sz="1600">
                <a:solidFill>
                  <a:srgbClr val="452E65"/>
                </a:solidFill>
              </a:defRPr>
            </a:pPr>
            <a:r>
              <a:t> Ask for help early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98"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99"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Personal reflection</a:t>
            </a:r>
          </a:p>
        </p:txBody>
      </p:sp>
      <p:sp>
        <p:nvSpPr>
          <p:cNvPr id="100" name="Shape 2"/>
          <p:cNvSpPr/>
          <p:nvPr/>
        </p:nvSpPr>
        <p:spPr>
          <a:xfrm>
            <a:off x="457200" y="1097280"/>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101" name="Text 3"/>
          <p:cNvSpPr txBox="1"/>
          <p:nvPr/>
        </p:nvSpPr>
        <p:spPr>
          <a:xfrm>
            <a:off x="640080" y="1288377"/>
            <a:ext cx="36576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A148C"/>
                </a:solidFill>
              </a:defRPr>
            </a:lvl1pPr>
          </a:lstStyle>
          <a:p>
            <a:pPr/>
            <a:r>
              <a:t>Tiina</a:t>
            </a:r>
          </a:p>
        </p:txBody>
      </p:sp>
      <p:sp>
        <p:nvSpPr>
          <p:cNvPr id="102" name="Text 4"/>
          <p:cNvSpPr txBox="1"/>
          <p:nvPr/>
        </p:nvSpPr>
        <p:spPr>
          <a:xfrm>
            <a:off x="640080" y="1645920"/>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Learning React</a:t>
            </a:r>
          </a:p>
        </p:txBody>
      </p:sp>
      <p:sp>
        <p:nvSpPr>
          <p:cNvPr id="103" name="Shape 5"/>
          <p:cNvSpPr/>
          <p:nvPr/>
        </p:nvSpPr>
        <p:spPr>
          <a:xfrm>
            <a:off x="4663440" y="1097280"/>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104" name="Text 6"/>
          <p:cNvSpPr txBox="1"/>
          <p:nvPr/>
        </p:nvSpPr>
        <p:spPr>
          <a:xfrm>
            <a:off x="4846320" y="1288377"/>
            <a:ext cx="36576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A148C"/>
                </a:solidFill>
              </a:defRPr>
            </a:lvl1pPr>
          </a:lstStyle>
          <a:p>
            <a:pPr/>
            <a:r>
              <a:t>Joni</a:t>
            </a:r>
          </a:p>
        </p:txBody>
      </p:sp>
      <p:sp>
        <p:nvSpPr>
          <p:cNvPr id="105" name="Text 7"/>
          <p:cNvSpPr txBox="1"/>
          <p:nvPr/>
        </p:nvSpPr>
        <p:spPr>
          <a:xfrm>
            <a:off x="4846320" y="1645920"/>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Task estimation</a:t>
            </a:r>
          </a:p>
        </p:txBody>
      </p:sp>
      <p:sp>
        <p:nvSpPr>
          <p:cNvPr id="106" name="Shape 8"/>
          <p:cNvSpPr/>
          <p:nvPr/>
        </p:nvSpPr>
        <p:spPr>
          <a:xfrm>
            <a:off x="457200" y="2880360"/>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107" name="Text 9"/>
          <p:cNvSpPr txBox="1"/>
          <p:nvPr/>
        </p:nvSpPr>
        <p:spPr>
          <a:xfrm>
            <a:off x="640080" y="3071457"/>
            <a:ext cx="36576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A148C"/>
                </a:solidFill>
              </a:defRPr>
            </a:lvl1pPr>
          </a:lstStyle>
          <a:p>
            <a:pPr/>
            <a:r>
              <a:t>Mariia</a:t>
            </a:r>
          </a:p>
        </p:txBody>
      </p:sp>
      <p:sp>
        <p:nvSpPr>
          <p:cNvPr id="108" name="Text 10"/>
          <p:cNvSpPr txBox="1"/>
          <p:nvPr/>
        </p:nvSpPr>
        <p:spPr>
          <a:xfrm>
            <a:off x="640080" y="3429000"/>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Writing tests</a:t>
            </a:r>
          </a:p>
        </p:txBody>
      </p:sp>
      <p:sp>
        <p:nvSpPr>
          <p:cNvPr id="109" name="Shape 11"/>
          <p:cNvSpPr/>
          <p:nvPr/>
        </p:nvSpPr>
        <p:spPr>
          <a:xfrm>
            <a:off x="4663440" y="2880360"/>
            <a:ext cx="4023360" cy="1645921"/>
          </a:xfrm>
          <a:prstGeom prst="roundRect">
            <a:avLst>
              <a:gd name="adj" fmla="val 5556"/>
            </a:avLst>
          </a:prstGeom>
          <a:solidFill>
            <a:srgbClr val="FFFFFF"/>
          </a:solidFill>
          <a:ln w="12700">
            <a:solidFill>
              <a:srgbClr val="D9C8EC"/>
            </a:solidFill>
          </a:ln>
        </p:spPr>
        <p:txBody>
          <a:bodyPr lIns="45719" rIns="45719"/>
          <a:lstStyle/>
          <a:p>
            <a:pPr/>
          </a:p>
        </p:txBody>
      </p:sp>
      <p:sp>
        <p:nvSpPr>
          <p:cNvPr id="110" name="Text 12"/>
          <p:cNvSpPr txBox="1"/>
          <p:nvPr/>
        </p:nvSpPr>
        <p:spPr>
          <a:xfrm>
            <a:off x="4846320" y="3071457"/>
            <a:ext cx="365760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A148C"/>
                </a:solidFill>
              </a:defRPr>
            </a:lvl1pPr>
          </a:lstStyle>
          <a:p>
            <a:pPr/>
            <a:r>
              <a:t>Juan</a:t>
            </a:r>
          </a:p>
        </p:txBody>
      </p:sp>
      <p:sp>
        <p:nvSpPr>
          <p:cNvPr id="111" name="Text 13"/>
          <p:cNvSpPr txBox="1"/>
          <p:nvPr/>
        </p:nvSpPr>
        <p:spPr>
          <a:xfrm>
            <a:off x="4846320" y="3429000"/>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Resolving Git conflicts</a:t>
            </a:r>
          </a:p>
        </p:txBody>
      </p:sp>
      <p:sp>
        <p:nvSpPr>
          <p:cNvPr id="112" name="Text 4"/>
          <p:cNvSpPr txBox="1"/>
          <p:nvPr/>
        </p:nvSpPr>
        <p:spPr>
          <a:xfrm>
            <a:off x="640080" y="1996368"/>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Reviewing teammates’ code</a:t>
            </a:r>
          </a:p>
        </p:txBody>
      </p:sp>
      <p:sp>
        <p:nvSpPr>
          <p:cNvPr id="113" name="Text 4"/>
          <p:cNvSpPr txBox="1"/>
          <p:nvPr/>
        </p:nvSpPr>
        <p:spPr>
          <a:xfrm>
            <a:off x="640080" y="2346817"/>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Time management</a:t>
            </a:r>
          </a:p>
        </p:txBody>
      </p:sp>
      <p:sp>
        <p:nvSpPr>
          <p:cNvPr id="114" name="Text 4"/>
          <p:cNvSpPr txBox="1"/>
          <p:nvPr/>
        </p:nvSpPr>
        <p:spPr>
          <a:xfrm>
            <a:off x="640080" y="3803191"/>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Understanding syntax</a:t>
            </a:r>
          </a:p>
        </p:txBody>
      </p:sp>
      <p:sp>
        <p:nvSpPr>
          <p:cNvPr id="115" name="Text 4"/>
          <p:cNvSpPr txBox="1"/>
          <p:nvPr/>
        </p:nvSpPr>
        <p:spPr>
          <a:xfrm>
            <a:off x="640079" y="4105971"/>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Breaking tasks into smaller steps</a:t>
            </a:r>
          </a:p>
        </p:txBody>
      </p:sp>
      <p:sp>
        <p:nvSpPr>
          <p:cNvPr id="116" name="Text 4"/>
          <p:cNvSpPr txBox="1"/>
          <p:nvPr/>
        </p:nvSpPr>
        <p:spPr>
          <a:xfrm>
            <a:off x="4846320" y="3779448"/>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Improving conflict resolution skills</a:t>
            </a:r>
          </a:p>
        </p:txBody>
      </p:sp>
      <p:sp>
        <p:nvSpPr>
          <p:cNvPr id="117" name="Text 4"/>
          <p:cNvSpPr txBox="1"/>
          <p:nvPr/>
        </p:nvSpPr>
        <p:spPr>
          <a:xfrm>
            <a:off x="4846320" y="4105971"/>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Codebase organization</a:t>
            </a:r>
          </a:p>
        </p:txBody>
      </p:sp>
      <p:sp>
        <p:nvSpPr>
          <p:cNvPr id="118" name="Text 4"/>
          <p:cNvSpPr txBox="1"/>
          <p:nvPr/>
        </p:nvSpPr>
        <p:spPr>
          <a:xfrm>
            <a:off x="4846320" y="1996368"/>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Styles and responsiveness</a:t>
            </a:r>
          </a:p>
        </p:txBody>
      </p:sp>
      <p:sp>
        <p:nvSpPr>
          <p:cNvPr id="119" name="Text 4"/>
          <p:cNvSpPr txBox="1"/>
          <p:nvPr/>
        </p:nvSpPr>
        <p:spPr>
          <a:xfrm>
            <a:off x="4846320" y="2346817"/>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B1B3D"/>
                </a:solidFill>
              </a:defRPr>
            </a:lvl1pPr>
          </a:lstStyle>
          <a:p>
            <a:pPr/>
            <a:r>
              <a:t>Time planning</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3FB"/>
        </a:solidFill>
      </p:bgPr>
    </p:bg>
    <p:spTree>
      <p:nvGrpSpPr>
        <p:cNvPr id="1" name=""/>
        <p:cNvGrpSpPr/>
        <p:nvPr/>
      </p:nvGrpSpPr>
      <p:grpSpPr>
        <a:xfrm>
          <a:off x="0" y="0"/>
          <a:ext cx="0" cy="0"/>
          <a:chOff x="0" y="0"/>
          <a:chExt cx="0" cy="0"/>
        </a:xfrm>
      </p:grpSpPr>
      <p:sp>
        <p:nvSpPr>
          <p:cNvPr id="123" name="Header bar"/>
          <p:cNvSpPr/>
          <p:nvPr/>
        </p:nvSpPr>
        <p:spPr>
          <a:xfrm>
            <a:off x="0" y="-1"/>
            <a:ext cx="9144000" cy="822962"/>
          </a:xfrm>
          <a:prstGeom prst="rect">
            <a:avLst/>
          </a:prstGeom>
          <a:solidFill>
            <a:srgbClr val="4A148C"/>
          </a:solidFill>
          <a:ln w="12700">
            <a:solidFill>
              <a:srgbClr val="4A148C"/>
            </a:solidFill>
          </a:ln>
        </p:spPr>
        <p:txBody>
          <a:bodyPr lIns="45719" rIns="45719"/>
          <a:lstStyle/>
          <a:p>
            <a:pPr/>
          </a:p>
        </p:txBody>
      </p:sp>
      <p:sp>
        <p:nvSpPr>
          <p:cNvPr id="124" name="Text 1"/>
          <p:cNvSpPr txBox="1"/>
          <p:nvPr/>
        </p:nvSpPr>
        <p:spPr>
          <a:xfrm>
            <a:off x="457200" y="234821"/>
            <a:ext cx="8229600" cy="353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800">
                <a:solidFill>
                  <a:srgbClr val="FFFFFF"/>
                </a:solidFill>
              </a:defRPr>
            </a:lvl1pPr>
          </a:lstStyle>
          <a:p>
            <a:pPr/>
            <a:r>
              <a:t>Conclusion</a:t>
            </a:r>
          </a:p>
        </p:txBody>
      </p:sp>
      <p:sp>
        <p:nvSpPr>
          <p:cNvPr id="125" name="Shape 2"/>
          <p:cNvSpPr/>
          <p:nvPr/>
        </p:nvSpPr>
        <p:spPr>
          <a:xfrm>
            <a:off x="362851" y="1254528"/>
            <a:ext cx="4023360" cy="1755880"/>
          </a:xfrm>
          <a:prstGeom prst="roundRect">
            <a:avLst>
              <a:gd name="adj" fmla="val 5207"/>
            </a:avLst>
          </a:prstGeom>
          <a:solidFill>
            <a:srgbClr val="FFFFFF"/>
          </a:solidFill>
          <a:ln w="12700">
            <a:solidFill>
              <a:srgbClr val="D9C8EC"/>
            </a:solidFill>
          </a:ln>
        </p:spPr>
        <p:txBody>
          <a:bodyPr lIns="45719" rIns="45719"/>
          <a:lstStyle/>
          <a:p>
            <a:pPr/>
          </a:p>
        </p:txBody>
      </p:sp>
      <p:sp>
        <p:nvSpPr>
          <p:cNvPr id="126" name="Text 3"/>
          <p:cNvSpPr txBox="1"/>
          <p:nvPr/>
        </p:nvSpPr>
        <p:spPr>
          <a:xfrm>
            <a:off x="545730" y="1370548"/>
            <a:ext cx="36576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Result</a:t>
            </a:r>
          </a:p>
        </p:txBody>
      </p:sp>
      <p:sp>
        <p:nvSpPr>
          <p:cNvPr id="127" name="Text 4"/>
          <p:cNvSpPr txBox="1"/>
          <p:nvPr/>
        </p:nvSpPr>
        <p:spPr>
          <a:xfrm>
            <a:off x="545730" y="2084671"/>
            <a:ext cx="3657601" cy="717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r>
              <a:t>Fully working movie website</a:t>
            </a:r>
          </a:p>
          <a:p>
            <a:pPr>
              <a:defRPr sz="1600">
                <a:solidFill>
                  <a:srgbClr val="2B1B3D"/>
                </a:solidFill>
              </a:defRPr>
            </a:pPr>
            <a:r>
              <a:t>All requirements completed</a:t>
            </a:r>
          </a:p>
          <a:p>
            <a:pPr>
              <a:defRPr sz="1600">
                <a:solidFill>
                  <a:srgbClr val="2B1B3D"/>
                </a:solidFill>
              </a:defRPr>
            </a:pPr>
            <a:r>
              <a:t>Secure application</a:t>
            </a:r>
          </a:p>
        </p:txBody>
      </p:sp>
      <p:sp>
        <p:nvSpPr>
          <p:cNvPr id="128" name="Shape 5"/>
          <p:cNvSpPr/>
          <p:nvPr/>
        </p:nvSpPr>
        <p:spPr>
          <a:xfrm>
            <a:off x="4679165" y="1254528"/>
            <a:ext cx="3861198" cy="1755880"/>
          </a:xfrm>
          <a:prstGeom prst="roundRect">
            <a:avLst>
              <a:gd name="adj" fmla="val 4998"/>
            </a:avLst>
          </a:prstGeom>
          <a:solidFill>
            <a:srgbClr val="FFFFFF"/>
          </a:solidFill>
          <a:ln w="12700">
            <a:solidFill>
              <a:srgbClr val="D9C8EC"/>
            </a:solidFill>
          </a:ln>
        </p:spPr>
        <p:txBody>
          <a:bodyPr lIns="45719" rIns="45719"/>
          <a:lstStyle/>
          <a:p>
            <a:pPr/>
          </a:p>
        </p:txBody>
      </p:sp>
      <p:sp>
        <p:nvSpPr>
          <p:cNvPr id="129" name="Text 6"/>
          <p:cNvSpPr txBox="1"/>
          <p:nvPr/>
        </p:nvSpPr>
        <p:spPr>
          <a:xfrm>
            <a:off x="4862045" y="1449172"/>
            <a:ext cx="365760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Teamwork</a:t>
            </a:r>
          </a:p>
        </p:txBody>
      </p:sp>
      <p:sp>
        <p:nvSpPr>
          <p:cNvPr id="130" name="Text 7"/>
          <p:cNvSpPr txBox="1"/>
          <p:nvPr/>
        </p:nvSpPr>
        <p:spPr>
          <a:xfrm>
            <a:off x="4862045" y="2084671"/>
            <a:ext cx="3657601" cy="717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B1B3D"/>
                </a:solidFill>
              </a:defRPr>
            </a:pPr>
            <a:r>
              <a:t>Second project together</a:t>
            </a:r>
          </a:p>
          <a:p>
            <a:pPr>
              <a:defRPr sz="1600">
                <a:solidFill>
                  <a:srgbClr val="2B1B3D"/>
                </a:solidFill>
              </a:defRPr>
            </a:pPr>
            <a:r>
              <a:t>Friendly, supportive atmosphere</a:t>
            </a:r>
          </a:p>
          <a:p>
            <a:pPr>
              <a:defRPr sz="1600">
                <a:solidFill>
                  <a:srgbClr val="2B1B3D"/>
                </a:solidFill>
              </a:defRPr>
            </a:pPr>
            <a:r>
              <a:t>Everyone responsible for their part</a:t>
            </a:r>
          </a:p>
        </p:txBody>
      </p:sp>
      <p:sp>
        <p:nvSpPr>
          <p:cNvPr id="131" name="Shape 2"/>
          <p:cNvSpPr/>
          <p:nvPr/>
        </p:nvSpPr>
        <p:spPr>
          <a:xfrm>
            <a:off x="2856573" y="3280651"/>
            <a:ext cx="3430854" cy="1556038"/>
          </a:xfrm>
          <a:prstGeom prst="roundRect">
            <a:avLst>
              <a:gd name="adj" fmla="val 5011"/>
            </a:avLst>
          </a:prstGeom>
          <a:solidFill>
            <a:srgbClr val="FFFFFF"/>
          </a:solidFill>
          <a:ln w="12700">
            <a:solidFill>
              <a:srgbClr val="D9C8EC"/>
            </a:solidFill>
          </a:ln>
        </p:spPr>
        <p:txBody>
          <a:bodyPr lIns="45719" rIns="45719"/>
          <a:lstStyle/>
          <a:p>
            <a:pPr/>
          </a:p>
        </p:txBody>
      </p:sp>
      <p:sp>
        <p:nvSpPr>
          <p:cNvPr id="132" name="Text 3"/>
          <p:cNvSpPr txBox="1"/>
          <p:nvPr/>
        </p:nvSpPr>
        <p:spPr>
          <a:xfrm>
            <a:off x="3061034" y="3435625"/>
            <a:ext cx="3112534"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148C"/>
                </a:solidFill>
              </a:defRPr>
            </a:lvl1pPr>
          </a:lstStyle>
          <a:p>
            <a:pPr/>
            <a:r>
              <a:t>Future improvements</a:t>
            </a:r>
          </a:p>
        </p:txBody>
      </p:sp>
      <p:sp>
        <p:nvSpPr>
          <p:cNvPr id="133" name="Text 4"/>
          <p:cNvSpPr txBox="1"/>
          <p:nvPr/>
        </p:nvSpPr>
        <p:spPr>
          <a:xfrm>
            <a:off x="3061034" y="4096141"/>
            <a:ext cx="3112534"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B1B3D"/>
                </a:solidFill>
              </a:defRPr>
            </a:lvl1pPr>
          </a:lstStyle>
          <a:p>
            <a:pPr/>
            <a:r>
              <a:t>Breaking tasks into smaller steps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7" name="backgroundSearch.png" descr="backgroundSearch.png"/>
          <p:cNvPicPr>
            <a:picLocks noChangeAspect="1"/>
          </p:cNvPicPr>
          <p:nvPr/>
        </p:nvPicPr>
        <p:blipFill>
          <a:blip r:embed="rId2">
            <a:extLst/>
          </a:blip>
          <a:stretch>
            <a:fillRect/>
          </a:stretch>
        </p:blipFill>
        <p:spPr>
          <a:xfrm>
            <a:off x="-35719" y="-26790"/>
            <a:ext cx="9215438" cy="6143626"/>
          </a:xfrm>
          <a:prstGeom prst="rect">
            <a:avLst/>
          </a:prstGeom>
          <a:ln w="12700">
            <a:miter lim="400000"/>
          </a:ln>
        </p:spPr>
      </p:pic>
      <p:sp>
        <p:nvSpPr>
          <p:cNvPr id="138" name="Text 8"/>
          <p:cNvSpPr txBox="1"/>
          <p:nvPr/>
        </p:nvSpPr>
        <p:spPr>
          <a:xfrm>
            <a:off x="457200" y="2368946"/>
            <a:ext cx="8229600" cy="405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200">
                <a:solidFill>
                  <a:srgbClr val="4A148C"/>
                </a:solidFill>
              </a:defRPr>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